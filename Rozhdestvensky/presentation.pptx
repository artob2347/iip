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C9D6FF"/>
                </a:solidFill>
                <a:latin typeface="Georgia"/>
              </a:defRPr>
            </a:pPr>
            <a:r>
              <a:t>Роберт Рождественский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1">
                <a:solidFill>
                  <a:srgbClr val="8899AA"/>
                </a:solidFill>
                <a:latin typeface="Calibri"/>
              </a:defRPr>
            </a:pPr>
            <a:r>
              <a:t>Поэт. Песенник. Голос эпохи.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99AA"/>
                </a:solidFill>
                <a:latin typeface="Calibri"/>
              </a:defRPr>
            </a:pPr>
            <a:r>
              <a:t>1932 — 1994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8899AA"/>
                </a:solidFill>
                <a:latin typeface="Calibri"/>
              </a:defRPr>
            </a:pPr>
            <a:r>
              <a:t>«Я жил в замечательное время. И я хочу, чтобы люди знали и помнили об этом.»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Детство и юность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Родился </a:t>
            </a:r>
            <a:r>
              <a:rPr sz="1700" b="1">
                <a:solidFill>
                  <a:srgbClr val="7B68EE"/>
                </a:solidFill>
                <a:latin typeface="Calibri"/>
              </a:rPr>
              <a:t>20 июня 1932</a:t>
            </a:r>
            <a:r>
              <a:rPr sz="1700">
                <a:solidFill>
                  <a:srgbClr val="CCCCDD"/>
                </a:solidFill>
                <a:latin typeface="Calibri"/>
              </a:rPr>
              <a:t> в селе Косиха, Алтайский край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Настоящее имя — </a:t>
            </a:r>
            <a:r>
              <a:rPr sz="1700" b="1">
                <a:solidFill>
                  <a:srgbClr val="7B68EE"/>
                </a:solidFill>
                <a:latin typeface="Calibri"/>
              </a:rPr>
              <a:t>Роберт Станиславович Петкевич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Отец погиб на фронте в 1945 году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Мать призвана на фронт — Роберт остался с бабушкой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После смерти бабушки попал в </a:t>
            </a:r>
            <a:r>
              <a:rPr sz="1700" b="1">
                <a:solidFill>
                  <a:srgbClr val="7B68EE"/>
                </a:solidFill>
                <a:latin typeface="Calibri"/>
              </a:rPr>
              <a:t>детский дом</a:t>
            </a:r>
            <a:r>
              <a:rPr sz="1700">
                <a:solidFill>
                  <a:srgbClr val="CCCCDD"/>
                </a:solidFill>
                <a:latin typeface="Calibri"/>
              </a:rPr>
              <a:t> (1943)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Мать вышла замуж за офицера </a:t>
            </a:r>
            <a:r>
              <a:rPr sz="1700" b="1">
                <a:solidFill>
                  <a:srgbClr val="7B68EE"/>
                </a:solidFill>
                <a:latin typeface="Calibri"/>
              </a:rPr>
              <a:t>Ивана Рождественского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Роберт получил фамилию и отчество отчима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Учился в Кёнигсберге, Ленинграде, Петрозаводске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Первая публикация — в </a:t>
            </a:r>
            <a:r>
              <a:rPr sz="1700" b="1">
                <a:solidFill>
                  <a:srgbClr val="7B68EE"/>
                </a:solidFill>
                <a:latin typeface="Calibri"/>
              </a:rPr>
              <a:t>9 лет</a:t>
            </a:r>
            <a:r>
              <a:rPr sz="1700">
                <a:solidFill>
                  <a:srgbClr val="CCCCDD"/>
                </a:solidFill>
                <a:latin typeface="Calibri"/>
              </a:rPr>
              <a:t> (1941, газета «Омская правда»)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846320"/>
            <a:ext cx="5029200" cy="1188720"/>
          </a:xfrm>
          <a:prstGeom prst="roundRect">
            <a:avLst/>
          </a:prstGeom>
          <a:solidFill>
            <a:srgbClr val="1E2545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77800" tIns="152400"/>
          <a:lstStyle/>
          <a:p>
            <a:pPr algn="ctr"/>
            <a:r>
              <a:rPr sz="1500" i="1">
                <a:solidFill>
                  <a:srgbClr val="CCCCDD"/>
                </a:solidFill>
                <a:latin typeface="Calibri"/>
              </a:rPr>
              <a:t>«С винтовкой мой папа уходит в поход...»</a:t>
            </a:r>
          </a:p>
          <a:p>
            <a:pPr algn="r">
              <a:spcBef>
                <a:spcPts val="600"/>
              </a:spcBef>
            </a:pPr>
            <a:r>
              <a:rPr sz="1200">
                <a:solidFill>
                  <a:srgbClr val="8899AA"/>
                </a:solidFill>
                <a:latin typeface="Calibri"/>
              </a:rPr>
              <a:t>— первое опубликованное стихотворение, 1941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Образование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Петрозаводский университет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1950—1951 гг. Историко-филологическое отделение. Играл в сборной по волейболу.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Литературный институт им. Горького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1951—1956 гг. Поступил со второй попытки. Переехал в Москву.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Круг общения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В институте познакомился с Евгением Евтушенко, позже — с Булатом Окуджавой и Андреем Вознесенским.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Поколение шестидесятников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Вместе с Евтушенко, Вознесенским и Ахмадулиной стал одним из ярких представителей эпохи «оттепели».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Литературная карьера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1952</a:t>
            </a:r>
            <a:r>
              <a:rPr sz="1700">
                <a:solidFill>
                  <a:srgbClr val="CCCCDD"/>
                </a:solidFill>
                <a:latin typeface="Calibri"/>
              </a:rPr>
              <a:t> — стихи начинают печататься в журнале «Смена»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1955</a:t>
            </a:r>
            <a:r>
              <a:rPr sz="1700">
                <a:solidFill>
                  <a:srgbClr val="CCCCDD"/>
                </a:solidFill>
                <a:latin typeface="Calibri"/>
              </a:rPr>
              <a:t> — первая книга стихов «Флаги весны»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1956</a:t>
            </a:r>
            <a:r>
              <a:rPr sz="1700">
                <a:solidFill>
                  <a:srgbClr val="CCCCDD"/>
                </a:solidFill>
                <a:latin typeface="Calibri"/>
              </a:rPr>
              <a:t> — сборник «Испытание»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1959</a:t>
            </a:r>
            <a:r>
              <a:rPr sz="1700">
                <a:solidFill>
                  <a:srgbClr val="CCCCDD"/>
                </a:solidFill>
                <a:latin typeface="Calibri"/>
              </a:rPr>
              <a:t> — «Дрейфующий проспект»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1962</a:t>
            </a:r>
            <a:r>
              <a:rPr sz="1700">
                <a:solidFill>
                  <a:srgbClr val="CCCCDD"/>
                </a:solidFill>
                <a:latin typeface="Calibri"/>
              </a:rPr>
              <a:t> — «Необитаемые острова»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1965</a:t>
            </a:r>
            <a:r>
              <a:rPr sz="1700">
                <a:solidFill>
                  <a:srgbClr val="CCCCDD"/>
                </a:solidFill>
                <a:latin typeface="Calibri"/>
              </a:rPr>
              <a:t> — «Радиус действия»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1970</a:t>
            </a:r>
            <a:r>
              <a:rPr sz="1700">
                <a:solidFill>
                  <a:srgbClr val="CCCCDD"/>
                </a:solidFill>
                <a:latin typeface="Calibri"/>
              </a:rPr>
              <a:t> — «Посвящение»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1979</a:t>
            </a:r>
            <a:r>
              <a:rPr sz="1700">
                <a:solidFill>
                  <a:srgbClr val="CCCCDD"/>
                </a:solidFill>
                <a:latin typeface="Calibri"/>
              </a:rPr>
              <a:t> — поэма «210 шагов» (Гос. премия)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1982</a:t>
            </a:r>
            <a:r>
              <a:rPr sz="1700">
                <a:solidFill>
                  <a:srgbClr val="CCCCDD"/>
                </a:solidFill>
                <a:latin typeface="Calibri"/>
              </a:rPr>
              <a:t> — «Голос города»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 b="1">
                <a:solidFill>
                  <a:srgbClr val="7B68EE"/>
                </a:solidFill>
                <a:latin typeface="Calibri"/>
              </a:rPr>
              <a:t>1990</a:t>
            </a:r>
            <a:r>
              <a:rPr sz="1700">
                <a:solidFill>
                  <a:srgbClr val="CCCCDD"/>
                </a:solidFill>
                <a:latin typeface="Calibri"/>
              </a:rPr>
              <a:t> — «Бессонница»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846320"/>
            <a:ext cx="5029200" cy="1188720"/>
          </a:xfrm>
          <a:prstGeom prst="roundRect">
            <a:avLst/>
          </a:prstGeom>
          <a:solidFill>
            <a:srgbClr val="1E2545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77800" tIns="152400"/>
          <a:lstStyle/>
          <a:p>
            <a:pPr algn="ctr"/>
            <a:r>
              <a:rPr sz="1500" i="1">
                <a:solidFill>
                  <a:srgbClr val="CCCCDD"/>
                </a:solidFill>
                <a:latin typeface="Calibri"/>
              </a:rPr>
              <a:t>Рождественский стал одним из первых поэтов, кто вывел стихи на эстраду перед тысячными аудиториями.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Основные поэмы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«Реквием»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Одно из самых пронзительных произведений о Великой Отечественной войне — поэма-памятник павшим героям.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«210 шагов»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Поэма о Кремлёвских курантах и истории страны. Удостоена Государственной премии СССР (1979).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«Письмо в тридцатый век»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Философское размышление о будущем человечества, обращение к потомкам через столетия.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«Моя любовь»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Лирическая поэма, ставшая одним из ранних знаковых произведений молодого поэта (1956).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Песни на стихи Рождественского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«Мгновения»</a:t>
            </a:r>
            <a:r>
              <a:rPr sz="1600">
                <a:solidFill>
                  <a:srgbClr val="CCCCDD"/>
                </a:solidFill>
                <a:latin typeface="Calibri"/>
              </a:rPr>
              <a:t> — к/ф «Семнадцать мгновений весны» (муз. М. Таривердиева)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«Позвони мне, позвони»</a:t>
            </a:r>
            <a:r>
              <a:rPr sz="1600">
                <a:solidFill>
                  <a:srgbClr val="CCCCDD"/>
                </a:solidFill>
                <a:latin typeface="Calibri"/>
              </a:rPr>
              <a:t> — к/ф «Карнавал» (муз. М. Дунаевского)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«Огромное небо»</a:t>
            </a:r>
            <a:r>
              <a:rPr sz="1600">
                <a:solidFill>
                  <a:srgbClr val="CCCCDD"/>
                </a:solidFill>
                <a:latin typeface="Calibri"/>
              </a:rPr>
              <a:t> — муз. О. Фельцмана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«Где-то далеко»</a:t>
            </a:r>
            <a:r>
              <a:rPr sz="1600">
                <a:solidFill>
                  <a:srgbClr val="CCCCDD"/>
                </a:solidFill>
                <a:latin typeface="Calibri"/>
              </a:rPr>
              <a:t> — к/ф «Семнадцать мгновений весны»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«Ноктюрн»</a:t>
            </a:r>
            <a:r>
              <a:rPr sz="1600">
                <a:solidFill>
                  <a:srgbClr val="CCCCDD"/>
                </a:solidFill>
                <a:latin typeface="Calibri"/>
              </a:rPr>
              <a:t> — муз. А. Бабаджаняна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«Погоня»</a:t>
            </a:r>
            <a:r>
              <a:rPr sz="1600">
                <a:solidFill>
                  <a:srgbClr val="CCCCDD"/>
                </a:solidFill>
                <a:latin typeface="Calibri"/>
              </a:rPr>
              <a:t> — к/ф «Неуловимые мстители»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«Эхо любви»</a:t>
            </a:r>
            <a:r>
              <a:rPr sz="1600">
                <a:solidFill>
                  <a:srgbClr val="CCCCDD"/>
                </a:solidFill>
                <a:latin typeface="Calibri"/>
              </a:rPr>
              <a:t> — муз. Е. Птичкина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«Мои года — моё богатство»</a:t>
            </a:r>
            <a:r>
              <a:rPr sz="1600">
                <a:solidFill>
                  <a:srgbClr val="CCCCDD"/>
                </a:solidFill>
                <a:latin typeface="Calibri"/>
              </a:rPr>
              <a:t> — муз. Д. Тухманова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«Притяжение Земли»</a:t>
            </a:r>
            <a:r>
              <a:rPr sz="1600">
                <a:solidFill>
                  <a:srgbClr val="CCCCDD"/>
                </a:solidFill>
                <a:latin typeface="Calibri"/>
              </a:rPr>
              <a:t> — муз. Д. Тухманова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7B68EE"/>
                </a:solidFill>
                <a:latin typeface="Calibri"/>
              </a:rPr>
              <a:t>▸ </a:t>
            </a:r>
            <a:r>
              <a:rPr sz="1600" b="1">
                <a:solidFill>
                  <a:srgbClr val="7B68EE"/>
                </a:solidFill>
                <a:latin typeface="Calibri"/>
              </a:rPr>
              <a:t>«Сладка ягода»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Особенности творчества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Гражданственность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Острое чувство ответственности за судьбу страны и народа пронизывает всё творчество поэта.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Публицистичность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Стихи часто звучали как ораторские выступления, обращённые к миллионам людей.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Искренность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Личная интонация, открытость чувств, готовность говорить о главном — без масок и поз.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1E2545"/>
          </a:solidFill>
          <a:ln w="12700">
            <a:solidFill>
              <a:srgbClr val="3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sz="1800" b="1">
                <a:solidFill>
                  <a:srgbClr val="7B68EE"/>
                </a:solidFill>
                <a:latin typeface="Calibri"/>
              </a:rPr>
              <a:t>Музыкальность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99AA"/>
                </a:solidFill>
                <a:latin typeface="Calibri"/>
              </a:rPr>
              <a:t>Ритмическая выразительность стихов сделала их идеальной основой для песен — десятки хитов на все времена.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Общественная деятельность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С </a:t>
            </a:r>
            <a:r>
              <a:rPr sz="1700" b="1">
                <a:solidFill>
                  <a:srgbClr val="7B68EE"/>
                </a:solidFill>
                <a:latin typeface="Calibri"/>
              </a:rPr>
              <a:t>1976</a:t>
            </a:r>
            <a:r>
              <a:rPr sz="1700">
                <a:solidFill>
                  <a:srgbClr val="CCCCDD"/>
                </a:solidFill>
                <a:latin typeface="Calibri"/>
              </a:rPr>
              <a:t> — секретарь Союза писателей СССР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Председатель комиссий по наследию </a:t>
            </a:r>
            <a:r>
              <a:rPr sz="1700" b="1">
                <a:solidFill>
                  <a:srgbClr val="7B68EE"/>
                </a:solidFill>
                <a:latin typeface="Calibri"/>
              </a:rPr>
              <a:t>Мандельштама</a:t>
            </a:r>
            <a:r>
              <a:rPr sz="1700">
                <a:solidFill>
                  <a:srgbClr val="CCCCDD"/>
                </a:solidFill>
                <a:latin typeface="Calibri"/>
              </a:rPr>
              <a:t>, </a:t>
            </a:r>
            <a:r>
              <a:rPr sz="1700" b="1">
                <a:solidFill>
                  <a:srgbClr val="7B68EE"/>
                </a:solidFill>
                <a:latin typeface="Calibri"/>
              </a:rPr>
              <a:t>Цветаевой</a:t>
            </a:r>
            <a:r>
              <a:rPr sz="1700">
                <a:solidFill>
                  <a:srgbClr val="CCCCDD"/>
                </a:solidFill>
                <a:latin typeface="Calibri"/>
              </a:rPr>
              <a:t> и </a:t>
            </a:r>
            <a:r>
              <a:rPr sz="1700" b="1">
                <a:solidFill>
                  <a:srgbClr val="7B68EE"/>
                </a:solidFill>
                <a:latin typeface="Calibri"/>
              </a:rPr>
              <a:t>Высоцкого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Составитель первой книги стихов Высоцкого — </a:t>
            </a:r>
            <a:r>
              <a:rPr sz="1700" b="1">
                <a:solidFill>
                  <a:srgbClr val="7B68EE"/>
                </a:solidFill>
                <a:latin typeface="Calibri"/>
              </a:rPr>
              <a:t>«Нерв»</a:t>
            </a:r>
            <a:r>
              <a:rPr sz="1700">
                <a:solidFill>
                  <a:srgbClr val="CCCCDD"/>
                </a:solidFill>
                <a:latin typeface="Calibri"/>
              </a:rPr>
              <a:t> (1981)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Добился открытия </a:t>
            </a:r>
            <a:r>
              <a:rPr sz="1700" b="1">
                <a:solidFill>
                  <a:srgbClr val="7B68EE"/>
                </a:solidFill>
                <a:latin typeface="Calibri"/>
              </a:rPr>
              <a:t>Дома-музея Цветаевой</a:t>
            </a:r>
            <a:r>
              <a:rPr sz="1700">
                <a:solidFill>
                  <a:srgbClr val="CCCCDD"/>
                </a:solidFill>
                <a:latin typeface="Calibri"/>
              </a:rPr>
              <a:t> в Москве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Трижды в жюри </a:t>
            </a:r>
            <a:r>
              <a:rPr sz="1700" b="1">
                <a:solidFill>
                  <a:srgbClr val="7B68EE"/>
                </a:solidFill>
                <a:latin typeface="Calibri"/>
              </a:rPr>
              <a:t>Каннского кинофестиваля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Перевёл </a:t>
            </a:r>
            <a:r>
              <a:rPr sz="1700" b="1">
                <a:solidFill>
                  <a:srgbClr val="7B68EE"/>
                </a:solidFill>
                <a:latin typeface="Calibri"/>
              </a:rPr>
              <a:t>Олимпийский гимн</a:t>
            </a:r>
            <a:r>
              <a:rPr sz="1700">
                <a:solidFill>
                  <a:srgbClr val="CCCCDD"/>
                </a:solidFill>
                <a:latin typeface="Calibri"/>
              </a:rPr>
              <a:t> для Олимпиады-80 в Москве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Вёл телепередачу </a:t>
            </a:r>
            <a:r>
              <a:rPr sz="1700" b="1">
                <a:solidFill>
                  <a:srgbClr val="7B68EE"/>
                </a:solidFill>
                <a:latin typeface="Calibri"/>
              </a:rPr>
              <a:t>«Документальный экран»</a:t>
            </a:r>
            <a:r>
              <a:rPr sz="1700">
                <a:solidFill>
                  <a:srgbClr val="CCCCDD"/>
                </a:solidFill>
                <a:latin typeface="Calibri"/>
              </a:rPr>
              <a:t> (1970-е)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Награды и премии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Государственная премия СССР</a:t>
            </a:r>
            <a:r>
              <a:rPr sz="2000">
                <a:solidFill>
                  <a:srgbClr val="CCCCDD"/>
                </a:solidFill>
                <a:latin typeface="Calibri"/>
              </a:rPr>
              <a:t> (1979) — за поэму «210 шагов»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Премия Ленинского комсомола</a:t>
            </a:r>
            <a:r>
              <a:rPr sz="2000">
                <a:solidFill>
                  <a:srgbClr val="CCCCDD"/>
                </a:solidFill>
                <a:latin typeface="Calibri"/>
              </a:rPr>
              <a:t> (1972)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Орден Ленина</a:t>
            </a:r>
            <a:r>
              <a:rPr sz="2000">
                <a:solidFill>
                  <a:srgbClr val="CCCCDD"/>
                </a:solidFill>
                <a:latin typeface="Calibri"/>
              </a:rPr>
              <a:t> (1984)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Орден Октябрьской Революции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Орден Трудового Красного Знамени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7B68EE"/>
                </a:solidFill>
                <a:latin typeface="Calibri"/>
              </a:rPr>
              <a:t>▸ </a:t>
            </a:r>
            <a:r>
              <a:rPr sz="2000" b="1">
                <a:solidFill>
                  <a:srgbClr val="7B68EE"/>
                </a:solidFill>
                <a:latin typeface="Calibri"/>
              </a:rPr>
              <a:t>Премия «Золотой венец»</a:t>
            </a:r>
            <a:r>
              <a:rPr sz="2000">
                <a:solidFill>
                  <a:srgbClr val="CCCCDD"/>
                </a:solidFill>
                <a:latin typeface="Calibri"/>
              </a:rPr>
              <a:t> (1966) — первый лауреат международного фестиваля в Струге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C9D6FF"/>
                </a:solidFill>
                <a:latin typeface="Georgia"/>
              </a:defRPr>
            </a:pPr>
            <a:r>
              <a:t>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Астероид </a:t>
            </a:r>
            <a:r>
              <a:rPr sz="1700" b="1">
                <a:solidFill>
                  <a:srgbClr val="7B68EE"/>
                </a:solidFill>
                <a:latin typeface="Calibri"/>
              </a:rPr>
              <a:t>5360 Rozhdestvenskij</a:t>
            </a:r>
            <a:r>
              <a:rPr sz="1700">
                <a:solidFill>
                  <a:srgbClr val="CCCCDD"/>
                </a:solidFill>
                <a:latin typeface="Calibri"/>
              </a:rPr>
              <a:t> назван в его честь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Улица и сквер в </a:t>
            </a:r>
            <a:r>
              <a:rPr sz="1700" b="1">
                <a:solidFill>
                  <a:srgbClr val="7B68EE"/>
                </a:solidFill>
                <a:latin typeface="Calibri"/>
              </a:rPr>
              <a:t>Петрозаводске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Мемориальные доски и памятник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7B68EE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Документальный фильм </a:t>
            </a:r>
            <a:r>
              <a:rPr sz="1700" b="1">
                <a:solidFill>
                  <a:srgbClr val="7B68EE"/>
                </a:solidFill>
                <a:latin typeface="Calibri"/>
              </a:rPr>
              <a:t>«Жил я впервые на этой Земле»</a:t>
            </a:r>
            <a:r>
              <a:rPr sz="1700">
                <a:solidFill>
                  <a:srgbClr val="CCCCDD"/>
                </a:solidFill>
                <a:latin typeface="Calibri"/>
              </a:rPr>
              <a:t> (2007)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029200" cy="1188720"/>
          </a:xfrm>
          <a:prstGeom prst="roundRect">
            <a:avLst/>
          </a:prstGeom>
          <a:solidFill>
            <a:srgbClr val="1E2545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77800" tIns="152400"/>
          <a:lstStyle/>
          <a:p>
            <a:pPr algn="ctr"/>
            <a:r>
              <a:rPr sz="1500" i="1">
                <a:solidFill>
                  <a:srgbClr val="CCCCDD"/>
                </a:solidFill>
                <a:latin typeface="Calibri"/>
              </a:rPr>
              <a:t>Скончался 19 августа 1994 года в Москве. Похоронен на Переделкинском кладбище. В том же году вышел сборник «Последние стихи Роберта Рождественского».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C9D6FF"/>
                </a:solidFill>
                <a:latin typeface="Georgia"/>
              </a:defRPr>
            </a:pPr>
            <a:r>
              <a:t>«Всё начинается с любви...</a:t>
            </a:r>
            <a:br/>
            <a:r>
              <a:t>Твердят: "Вначале было слово".</a:t>
            </a:r>
            <a:br/>
            <a:r>
              <a:t>А я провозглашаю снова:</a:t>
            </a:r>
            <a:br/>
            <a:r>
              <a:t>Всё начинается с любви!»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8899AA"/>
                </a:solidFill>
                <a:latin typeface="Calibri"/>
              </a:defRPr>
            </a:pPr>
            <a:r>
              <a:t>— Роберт Рождественский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899AA"/>
                </a:solidFill>
                <a:latin typeface="Calibri"/>
              </a:defRPr>
            </a:pPr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